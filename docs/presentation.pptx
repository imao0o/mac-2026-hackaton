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/>
              <a:t>Суммарный ход уставок, °C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Ход уставок, °C</c:v>
                </c:pt>
              </c:strCache>
            </c:strRef>
          </c:tx>
          <c:dPt>
            <c:idx val="0"/>
            <c:spPr>
              <a:solidFill>
                <a:srgbClr val="6B7280"/>
              </a:solidFill>
            </c:spPr>
          </c:dPt>
          <c:dPt>
            <c:idx val="1"/>
            <c:spPr>
              <a:solidFill>
                <a:srgbClr val="6B7280"/>
              </a:solidFill>
            </c:spPr>
          </c:dPt>
          <c:dPt>
            <c:idx val="2"/>
            <c:spPr>
              <a:solidFill>
                <a:srgbClr val="6B7280"/>
              </a:solidFill>
            </c:spPr>
          </c:dPt>
          <c:dPt>
            <c:idx val="3"/>
            <c:spPr>
              <a:solidFill>
                <a:srgbClr val="D9822B"/>
              </a:solidFill>
            </c:spPr>
          </c:dPt>
          <c:cat>
            <c:strRef>
              <c:f>Sheet1!$A$2:$A$5</c:f>
              <c:strCache>
                <c:ptCount val="4"/>
                <c:pt idx="0">
                  <c:v>одноагентная</c:v>
                </c:pt>
                <c:pt idx="1">
                  <c:v>без оптимизатора</c:v>
                </c:pt>
                <c:pt idx="2">
                  <c:v>без надёжности</c:v>
                </c:pt>
                <c:pt idx="3">
                  <c:v>полная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846.0</c:v>
                </c:pt>
                <c:pt idx="1">
                  <c:v>20.0</c:v>
                </c:pt>
                <c:pt idx="2">
                  <c:v>113.1</c:v>
                </c:pt>
                <c:pt idx="3">
                  <c:v>70.8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Одна фраза: система подсказывает оператору гидроочистки, как удержать серу и Т95 в спецификации, и честно молчит, когда данным нельзя верить.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действия — оценить, сравнить, посоветовать или отказаться. Подчеркнуть: вариант, нарушающий жёсткое ограничение, отсекается ДО ранжирования и не может быть «оплачен» выпуском.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Агенты обмениваются типизированными структурами (schemas.py), каждый цикл целиком пишется в журнал. Оркестратор проходит проверки в порядке важности: стоит ли установка, можно ли верить данным, есть ли допустимые варианты, нужен ли шаг вообще.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Разбиение только по времени. Неисправные периоды НЕ вырезаны: система в них отказывается, называя причину, и все метрики посчитаны вместе с ними. Полный список с датами — docs/DATA_PERIODS.md.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Каждое число — из отчёта в reports/, README сверяется с ними тестом. Тест — 2026-01-01 … 2026-08-07.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Главная мысль: от показания прибора модель зависит почти один к одному, от температуры реактора — почти никак, потому что контуры регулирования гасят отклик в истории. Поэтому приращение от уставок считает кинетика, и карточка это говорит. Прогноз на 2 часа не работает — сказать самим.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Единственное место, где система говорит не про текущий момент, а про месяцы вперёд, и единственная её оценка, проверенная бэктестом на цикле с известным исходом. Замена катализатора 23.04.2026 — из журнала.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Имитация замкнутого контура: что будет, если оператор послушается. Шаги с превышением считаются по одной и той же имитации с нами и без нас.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Читать парами: пропуски — ложные тревоги — суммарный ход уставок. Конфигурация, которая «ловит всё», обычно просто дёргает уставки постоянно. Одноагентная — только прогноз и порог.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Каждая строка карточки и её источник — docs/CARD.md. Строки «Достоверность», «Разбор причины» и «Возврат в норму» появляются, только когда им есть что сказать.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Отказ по данным — там, где прибор врёт: оперативное значение ошибается в разы сильнее, а доля превышений в отказах не ниже обычной — отказы не прячут превышения.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Правило приёмки пишется в docs/PLAN.md до того, как посчитан результат, и исполняется как есть. Отклонённое записывается с числами так же подробно, как принятое. Вердикты на слайде читаются из отчётов проверок.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Говорить до того, как спросят. У каждого пункта — чем измерено.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README — входная точка: таблица «за пять минут» ведёт к каждому числу и документу. Всё работает без интернета.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46120"/>
            <a:ext cx="1463040" cy="73152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Segoe UI"/>
              </a:rPr>
              <a:t>МАС «Нефтекод»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1460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Segoe UI"/>
              </a:rPr>
              <a:t>Мультиагентный советчик оператора гидроочистки дизельного топлива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20440"/>
            <a:ext cx="11094415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3F4F6"/>
                </a:solidFill>
                <a:latin typeface="Segoe UI"/>
              </a:rPr>
              <a:t>АВТ → гидроочистка 24-2000 → смешение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3F4F6"/>
                </a:solidFill>
                <a:latin typeface="Segoe UI"/>
              </a:rPr>
              <a:t>Качество и технологические ограничения — выше экономики. Отказ с причиной — тоже решение.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94415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F3F4F6"/>
                </a:solidFill>
                <a:latin typeface="Segoe UI"/>
              </a:rPr>
              <a:t>Отборочный этап · числа из отчётов на 22.09.2026 · работает локально, без интернета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Segoe UI"/>
              </a:rPr>
              <a:t>Что делает система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МАС «Нефтекод» · числа из reports/, собрано 22.09.2026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515258" cy="237744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314949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1F2A44"/>
                </a:solidFill>
                <a:latin typeface="Segoe UI"/>
              </a:rPr>
              <a:t>1. Оценивает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3149498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Segoe UI"/>
              </a:rPr>
              <a:t>риск выхода продукта за спецификацию по сере и Т95 — с интервалом и уверенностью, по возрасту каждого анализа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8218" y="1463040"/>
            <a:ext cx="3515258" cy="237744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1098" y="1600200"/>
            <a:ext cx="314949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1F2A44"/>
                </a:solidFill>
                <a:latin typeface="Segoe UI"/>
              </a:rPr>
              <a:t>2. Сравнивает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1098" y="2194560"/>
            <a:ext cx="3149498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Segoe UI"/>
              </a:rPr>
              <a:t>допустимые изменения режима: жёсткие ограничения — до ранжирования, затем фронт Парето по качеству, выпуску, энергии, тяжести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7796" y="1463040"/>
            <a:ext cx="3515258" cy="237744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10676" y="1600200"/>
            <a:ext cx="3149498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1F2A44"/>
                </a:solidFill>
                <a:latin typeface="Segoe UI"/>
              </a:rPr>
              <a:t>3. Советует или молчит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0676" y="2194560"/>
            <a:ext cx="3149498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Segoe UI"/>
              </a:rPr>
              <a:t>карточка оператору: причина → действие → эффект → ограничения → уверенность → что дальше; или отказ с названной причиной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60520"/>
            <a:ext cx="11094415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Segoe UI"/>
              </a:rPr>
              <a:t>•  Работает в закрытом контуре: без интернета и внешних сервисов, на CPU; слой локальной LLM необязателен и выключен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Segoe UI"/>
              </a:rPr>
              <a:t>•  Каждая включённая настройка включена правилом, записанным до счёта; отклонённые записаны с числами так же подробно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Segoe UI"/>
              </a:rPr>
              <a:t>•  Числа документов сверяются с отчётами тестами: переписанная фраза или пересчитанный отчёт роняют проверку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Segoe UI"/>
              </a:rPr>
              <a:t>Как устроено: агенты и обмен между ними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МАС «Нефтекод» · числа из reports/, собрано 22.09.2026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926080"/>
            <a:ext cx="2148840" cy="914400"/>
          </a:xfrm>
          <a:prstGeom prst="roundRect">
            <a:avLst>
              <a:gd name="adj" fmla="val 12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Срез состояния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Segoe UI"/>
              </a:rPr>
              <a:t>телеметрия, ЛИМС, ПАК/Q21; возраст анализов, брак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4680" y="1600200"/>
            <a:ext cx="2148840" cy="914400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Агент качества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Segoe UI"/>
              </a:rPr>
              <a:t>сера и Т95: прогноз, интервал, риск, уверенность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4251960"/>
            <a:ext cx="2148840" cy="914400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Агент надёжности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Segoe UI"/>
              </a:rPr>
              <a:t>тяжесть режима, останов, износ катализатора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2926080"/>
            <a:ext cx="2148840" cy="914400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Оптимизатор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Segoe UI"/>
              </a:rPr>
              <a:t>варианты → отсев по ограничениям → Парето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4892040"/>
            <a:ext cx="2148840" cy="777240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Смешение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Segoe UI"/>
              </a:rPr>
              <a:t>рецептура, доли = 100 %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2926080"/>
            <a:ext cx="1554480" cy="914400"/>
          </a:xfrm>
          <a:prstGeom prst="roundRect">
            <a:avLst>
              <a:gd name="adj" fmla="val 12000"/>
            </a:avLst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Оркестратор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Segoe UI"/>
              </a:rPr>
              <a:t>порядок проверок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49840" y="2240280"/>
            <a:ext cx="1508760" cy="914400"/>
          </a:xfrm>
          <a:prstGeom prst="roundRect">
            <a:avLst>
              <a:gd name="adj" fmla="val 12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Карточка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Segoe UI"/>
              </a:rPr>
              <a:t>или отказ с причиной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49840" y="3657600"/>
            <a:ext cx="1508760" cy="914400"/>
          </a:xfrm>
          <a:prstGeom prst="roundRect">
            <a:avLst>
              <a:gd name="adj" fmla="val 12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Журнал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Segoe UI"/>
              </a:rPr>
              <a:t>reports/runs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2697480" y="2057400"/>
            <a:ext cx="457200" cy="1325880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697480" y="3383280"/>
            <a:ext cx="457200" cy="1325880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03520" y="2057400"/>
            <a:ext cx="457200" cy="1325880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5303520" y="3383280"/>
            <a:ext cx="457200" cy="1325880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909560" y="3383280"/>
            <a:ext cx="457200" cy="0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835140" y="3840480"/>
            <a:ext cx="0" cy="1051560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909560" y="3840480"/>
            <a:ext cx="1234440" cy="1440180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303520" y="1783080"/>
            <a:ext cx="3840480" cy="1143000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921240" y="2697480"/>
            <a:ext cx="228600" cy="685800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921240" y="3383280"/>
            <a:ext cx="228600" cy="731520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1325880"/>
            <a:ext cx="246888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Segoe UI"/>
              </a:rPr>
              <a:t>Контракты агентов — типизированные структуры:</a:t>
            </a:r>
          </a:p>
          <a:p>
            <a:pPr algn="l"/>
            <a:r>
              <a:rPr sz="1200" b="0">
                <a:solidFill>
                  <a:srgbClr val="6B7280"/>
                </a:solidFill>
                <a:latin typeface="Consolas"/>
              </a:rPr>
              <a:t>src/nefte/agents/schemas.py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Segoe UI"/>
              </a:rPr>
              <a:t>Данные: как разбиты и где они неисправны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МАС «Нефтекод» · числа из reports/, собрано 22.09.2026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512064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286000"/>
                <a:gridCol w="1645920"/>
              </a:tblGrid>
              <a:tr h="32918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Выборка</a:t>
                      </a:r>
                    </a:p>
                  </a:txBody>
                  <a:tcPr marL="73152" marR="73152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Период</a:t>
                      </a:r>
                    </a:p>
                  </a:txBody>
                  <a:tcPr marL="73152" marR="73152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Для чего</a:t>
                      </a:r>
                    </a:p>
                  </a:txBody>
                  <a:tcPr marL="73152" marR="73152" marT="27432" marB="27432" anchor="ctr">
                    <a:solidFill>
                      <a:srgbClr val="1F2A4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11827"/>
                          </a:solidFill>
                          <a:latin typeface="Segoe UI"/>
                        </a:rPr>
                        <a:t>обучение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11827"/>
                          </a:solidFill>
                          <a:latin typeface="Segoe UI"/>
                        </a:rPr>
                        <a:t>2023-01-01 … 2025-06-30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11827"/>
                          </a:solidFill>
                          <a:latin typeface="Segoe UI"/>
                        </a:rPr>
                        <a:t>модели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11827"/>
                          </a:solidFill>
                          <a:latin typeface="Segoe UI"/>
                        </a:rPr>
                        <a:t>валидация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11827"/>
                          </a:solidFill>
                          <a:latin typeface="Segoe UI"/>
                        </a:rPr>
                        <a:t>2025-07-01 … 2025-12-31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11827"/>
                          </a:solidFill>
                          <a:latin typeface="Segoe UI"/>
                        </a:rPr>
                        <a:t>пороги и правила приёмки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11827"/>
                          </a:solidFill>
                          <a:latin typeface="Segoe UI"/>
                        </a:rPr>
                        <a:t>тест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11827"/>
                          </a:solidFill>
                          <a:latin typeface="Segoe UI"/>
                        </a:rPr>
                        <a:t>2026-01-01 … 2026-08-07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11827"/>
                          </a:solidFill>
                          <a:latin typeface="Segoe UI"/>
                        </a:rPr>
                        <a:t>только отчёт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0" y="1371600"/>
          <a:ext cx="56692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051560"/>
                <a:gridCol w="1097280"/>
                <a:gridCol w="777240"/>
              </a:tblGrid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Неисправность, часов</a:t>
                      </a:r>
                    </a:p>
                  </a:txBody>
                  <a:tcPr marL="73152" marR="73152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обучение</a:t>
                      </a:r>
                    </a:p>
                  </a:txBody>
                  <a:tcPr marL="73152" marR="73152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валидация</a:t>
                      </a:r>
                    </a:p>
                  </a:txBody>
                  <a:tcPr marL="73152" marR="73152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тест</a:t>
                      </a:r>
                    </a:p>
                  </a:txBody>
                  <a:tcPr marL="73152" marR="73152" marT="27432" marB="27432" anchor="ctr">
                    <a:solidFill>
                      <a:srgbClr val="1F2A4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Segoe UI"/>
                        </a:rPr>
                        <a:t>лаборатория молчит больше 72 ч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Segoe UI"/>
                        </a:rPr>
                        <a:t>911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Segoe UI"/>
                        </a:rPr>
                        <a:t>668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Segoe UI"/>
                        </a:rPr>
                        <a:t>останов установки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Segoe UI"/>
                        </a:rPr>
                        <a:t>747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Segoe UI"/>
                        </a:rPr>
                        <a:t>458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Segoe UI"/>
                        </a:rPr>
                        <a:t>полка Q21 (оперативный анализатор)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Segoe UI"/>
                        </a:rPr>
                        <a:t>183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Segoe UI"/>
                        </a:rPr>
                        <a:t>563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Segoe UI"/>
                        </a:rPr>
                        <a:t>полка ПАК из файла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Segoe UI"/>
                        </a:rPr>
                        <a:t>1351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Segoe UI"/>
                        </a:rPr>
                        <a:t>780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657600"/>
            <a:ext cx="11094415" cy="2743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Segoe UI"/>
              </a:rPr>
              <a:t>•  Лабораторный анализ публикуется с задержкой ~4 ч: до публикации система его не видит, у каждого анализа — возраст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Segoe UI"/>
              </a:rPr>
              <a:t>•  Поточные анализаторы уходят на «полку»: файловый ПАК стоит ровно на 18.45, Q21 — около 24.88 с дрожанием ±0.04; детектор залипания с допуском найден 21.09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Segoe UI"/>
              </a:rPr>
              <a:t>•  54 % «зависаний» поточного анализатора приходятся на остановы — останов распознаётся отдельно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Segoe UI"/>
              </a:rPr>
              <a:t>•  Данные организаторов не изменены; периоды с датами и причинами — docs/DATA_PERIODS.md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Segoe UI"/>
              </a:rPr>
              <a:t>Главные числа на тесте — 2026 год, в подборе не участвовал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МАС «Нефтекод» · числа из reports/, собрано 22.09.2026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515258" cy="2194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3240938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Segoe UI"/>
              </a:rPr>
              <a:t>1.29 мг/кг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3240938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Segoe UI"/>
              </a:rPr>
              <a:t>MAE прогноза серы — не хуже поточного анализатора (1.48, разница на границе значимости); ROC-AUC риска 0.82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8218" y="1371600"/>
            <a:ext cx="3515258" cy="2194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75378" y="1481328"/>
            <a:ext cx="3240938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Segoe UI"/>
              </a:rPr>
              <a:t>77 % / 52 %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5378" y="2240280"/>
            <a:ext cx="3240938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Segoe UI"/>
              </a:rPr>
              <a:t>реакция системы до публикации анализа: пробы с превышением против нормальных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7796" y="1371600"/>
            <a:ext cx="3515258" cy="2194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4956" y="1481328"/>
            <a:ext cx="3240938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Segoe UI"/>
              </a:rPr>
              <a:t>в 12 раз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4956" y="2240280"/>
            <a:ext cx="3240938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Segoe UI"/>
              </a:rPr>
              <a:t>меньше двигает уставки, чем одноагентная система: 70.8 °C против 846 за полгода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40480"/>
            <a:ext cx="3515258" cy="2194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50208"/>
            <a:ext cx="3240938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Segoe UI"/>
              </a:rPr>
              <a:t>4 из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709160"/>
            <a:ext cx="3240938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Segoe UI"/>
              </a:rPr>
              <a:t>шагов с превышением убирают 3 вмешательства за месяц в замкнутой имитации; вклад в Т95 −0.08 °C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38218" y="3840480"/>
            <a:ext cx="3515258" cy="2194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75378" y="3950208"/>
            <a:ext cx="3240938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Segoe UI"/>
              </a:rPr>
              <a:t>0.85 °C/мес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5378" y="4709160"/>
            <a:ext cx="3240938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Segoe UI"/>
              </a:rPr>
              <a:t>теряет активность катализатор (95 % ДИ 0.71–0.98); ресурс цикла 13–20 мес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27796" y="3840480"/>
            <a:ext cx="3515258" cy="2194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64956" y="3950208"/>
            <a:ext cx="3240938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Segoe UI"/>
              </a:rPr>
              <a:t>в 3.1–3.5 раза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4956" y="4709160"/>
            <a:ext cx="3240938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Segoe UI"/>
              </a:rPr>
              <a:t>больше ошибка прогноза, когда карточка пишет уверенность ниже 0.7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Segoe UI"/>
              </a:rPr>
              <a:t>Агент качества — виртуальный анализатор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МАС «Нефтекод» · числа из reports/, собрано 22.09.2026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6766560" cy="4937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11827"/>
                </a:solidFill>
                <a:latin typeface="Segoe UI"/>
              </a:rPr>
              <a:t>•  MAE 1.29 мг/кг против 1.48 у поточного анализатора — лучше или не хуже: парная разница −0.19, 90 % интервал −0.38…0.00; ROC-AUC риска 0.82; 80-процентный интервал накрывает 82 % анализов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11827"/>
                </a:solidFill>
                <a:latin typeface="Segoe UI"/>
              </a:rPr>
              <a:t>•  В окне от 2 ч до отбора до публикации анализа система реагирует на 77 % проб с превышением против 52 % нормальных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11827"/>
                </a:solidFill>
                <a:latin typeface="Segoe UI"/>
              </a:rPr>
              <a:t>•  Отклик серы на уставки из истории не выучить — его гасят регуляторы. Приращение считает кинетика: порядок 1.5, 0.46 мг/кг на градус — внутри 0.3–1.0, названных технологом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11827"/>
                </a:solidFill>
                <a:latin typeface="Segoe UI"/>
              </a:rPr>
              <a:t>•  Т95 — уровень из последнего анализа; ограничение «не ухудшать», а не гарантия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11827"/>
                </a:solidFill>
                <a:latin typeface="Segoe UI"/>
              </a:rPr>
              <a:t>•  Прогноз на 2 часа вперёд у бустинга не работает (ROC-AUC 0.37) — и мы это пишем, а не прячем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11135" y="1371600"/>
            <a:ext cx="3931920" cy="21031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48295" y="1481328"/>
            <a:ext cx="3657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Segoe UI"/>
              </a:rPr>
              <a:t>1.29 мг/кг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48295" y="2240280"/>
            <a:ext cx="365760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Segoe UI"/>
              </a:rPr>
              <a:t>MAE на тесте; у поточного анализатора 1.48 — лучше или не хуже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11135" y="3749039"/>
            <a:ext cx="3931920" cy="21031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48295" y="3858767"/>
            <a:ext cx="3657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Segoe UI"/>
              </a:rPr>
              <a:t>0.46 мг/кг/°C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48295" y="4617719"/>
            <a:ext cx="365760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Segoe UI"/>
              </a:rPr>
              <a:t>отклик по кинетике порядка 1.5 — середина практики технолога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Segoe UI"/>
              </a:rPr>
              <a:t>docs/QUALITY_AGENT.md · reports/quality_metrics_h0.json · docs/SULFUR_RESPONSE.md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Segoe UI"/>
              </a:rPr>
              <a:t>Агент надёжности: тяжесть, останов, катализатор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МАС «Нефтекод» · числа из reports/, собрано 22.09.2026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6766560" cy="4937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11827"/>
                </a:solidFill>
                <a:latin typeface="Segoe UI"/>
              </a:rPr>
              <a:t>•  Катализатор теряет 0.85 °C/мес активности (95 % ДИ 0.71–0.98) — по двум завершённым циклам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11827"/>
                </a:solidFill>
                <a:latin typeface="Segoe UI"/>
              </a:rPr>
              <a:t>•  Ресурс текущего цикла — 13–20 месяцев; метод проверен бэктестом на цикле с известным исходом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11827"/>
                </a:solidFill>
                <a:latin typeface="Segoe UI"/>
              </a:rPr>
              <a:t>•  Тяжесть режима — по прокси (температура, давление, перепад), с износом катализатора по возрасту от замены; ограничивает уставки: при высокой тяжести повышать температуру нельзя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11827"/>
                </a:solidFill>
                <a:latin typeface="Segoe UI"/>
              </a:rPr>
              <a:t>•  Останов распознаётся отдельно: 54 % «зависаний» анализатора — это остановы, а не поломки прибора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11827"/>
                </a:solidFill>
                <a:latin typeface="Segoe UI"/>
              </a:rPr>
              <a:t>•  Полка Q21 на 24.88 мг/кг — неисправность прибора: детектор с допуском, правило приёмки записано до счёта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11135" y="1371600"/>
            <a:ext cx="3931920" cy="21031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48295" y="1481328"/>
            <a:ext cx="3657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Segoe UI"/>
              </a:rPr>
              <a:t>0.85 °C/мес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48295" y="2240280"/>
            <a:ext cx="365760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Segoe UI"/>
              </a:rPr>
              <a:t>скорость дезактивации катализатора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11135" y="3749039"/>
            <a:ext cx="3931920" cy="21031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48295" y="3858767"/>
            <a:ext cx="3657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Segoe UI"/>
              </a:rPr>
              <a:t>13–20 мес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48295" y="4617719"/>
            <a:ext cx="365760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Segoe UI"/>
              </a:rPr>
              <a:t>остаточный ресурс цикла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Segoe UI"/>
              </a:rPr>
              <a:t>docs/CATALYST_LIFE.md · docs/RELIABILITY_AGENT.md · reports/catalyst_life.json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Segoe UI"/>
              </a:rPr>
              <a:t>Оптимизатор: сначала ограничения, потом выбор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МАС «Нефтекод» · числа из reports/, собрано 22.09.2026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6766560" cy="4937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11827"/>
                </a:solidFill>
                <a:latin typeface="Segoe UI"/>
              </a:rPr>
              <a:t>•  Жёсткие ограничения — до ранжирования: сера с запасом на неопределённость, Т95 не хуже, уставки в рабочем диапазоне, шаг за цикл ограничен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11827"/>
                </a:solidFill>
                <a:latin typeface="Segoe UI"/>
              </a:rPr>
              <a:t>•  Запас по сере обязан держаться и при втрое более слабом отклике — робастная гарантия, включена по правилу до счёта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11827"/>
                </a:solidFill>
                <a:latin typeface="Segoe UI"/>
              </a:rPr>
              <a:t>•  Фронт Парето по качеству, выпуску, энергии и тяжести; запрет частых воздействий: скорость изменения режима ≤ 0.5 °C/ч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11827"/>
                </a:solidFill>
                <a:latin typeface="Segoe UI"/>
              </a:rPr>
              <a:t>•  Ни одного допустимого варианта — отказ с перечнем причин, а не «лучший из плохих»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11827"/>
                </a:solidFill>
                <a:latin typeface="Segoe UI"/>
              </a:rPr>
              <a:t>•  Замкнутая имитация июня 2026: 3 вмешательства за месяц убирают 4 из 4 шагов с превышением, вклад в Т95 −0.08 °C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11135" y="1371600"/>
            <a:ext cx="3931920" cy="21031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48295" y="1481328"/>
            <a:ext cx="3657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2E7D4F"/>
                </a:solidFill>
                <a:latin typeface="Segoe UI"/>
              </a:rPr>
              <a:t>4 из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48295" y="2240280"/>
            <a:ext cx="365760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Segoe UI"/>
              </a:rPr>
              <a:t>шагов с превышением убраны в имитации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11135" y="3749039"/>
            <a:ext cx="3931920" cy="21031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48295" y="3858767"/>
            <a:ext cx="3657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Segoe UI"/>
              </a:rPr>
              <a:t>−0.08 °C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48295" y="4617719"/>
            <a:ext cx="365760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Segoe UI"/>
              </a:rPr>
              <a:t>наш вклад в Т95 — второй обязательный показатель не ухудшен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Segoe UI"/>
              </a:rPr>
              <a:t>docs/OPTIMIZER_AGENT.md · docs/HARD_CHECKS.md §6 · reports/simulation.json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Segoe UI"/>
              </a:rPr>
              <a:t>Зачем четыре агента: урезанные системы на том же тесте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МАС «Нефтекод» · числа из reports/, собрано 22.09.2026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65836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188720"/>
                <a:gridCol w="822960"/>
                <a:gridCol w="960120"/>
                <a:gridCol w="868680"/>
                <a:gridCol w="1097280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Конфигурация</a:t>
                      </a:r>
                    </a:p>
                  </a:txBody>
                  <a:tcPr marL="73152" marR="73152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Вмешательств</a:t>
                      </a:r>
                    </a:p>
                  </a:txBody>
                  <a:tcPr marL="73152" marR="73152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Отказов</a:t>
                      </a:r>
                    </a:p>
                  </a:txBody>
                  <a:tcPr marL="73152" marR="73152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Пропуски</a:t>
                      </a:r>
                    </a:p>
                  </a:txBody>
                  <a:tcPr marL="73152" marR="73152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Ложные</a:t>
                      </a:r>
                    </a:p>
                  </a:txBody>
                  <a:tcPr marL="73152" marR="73152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Ход, °C</a:t>
                      </a:r>
                    </a:p>
                  </a:txBody>
                  <a:tcPr marL="73152" marR="73152" marT="27432" marB="27432" anchor="ctr">
                    <a:solidFill>
                      <a:srgbClr val="1F2A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827"/>
                          </a:solidFill>
                          <a:latin typeface="Segoe UI"/>
                        </a:rPr>
                        <a:t>полная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827"/>
                          </a:solidFill>
                          <a:latin typeface="Segoe UI"/>
                        </a:rPr>
                        <a:t>83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827"/>
                          </a:solidFill>
                          <a:latin typeface="Segoe UI"/>
                        </a:rPr>
                        <a:t>124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827"/>
                          </a:solidFill>
                          <a:latin typeface="Segoe UI"/>
                        </a:rPr>
                        <a:t>0.65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827"/>
                          </a:solidFill>
                          <a:latin typeface="Segoe UI"/>
                        </a:rPr>
                        <a:t>0.21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827"/>
                          </a:solidFill>
                          <a:latin typeface="Segoe UI"/>
                        </a:rPr>
                        <a:t>70.8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827"/>
                          </a:solidFill>
                          <a:latin typeface="Segoe UI"/>
                        </a:rPr>
                        <a:t>без надёжности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827"/>
                          </a:solidFill>
                          <a:latin typeface="Segoe UI"/>
                        </a:rPr>
                        <a:t>105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827"/>
                          </a:solidFill>
                          <a:latin typeface="Segoe UI"/>
                        </a:rPr>
                        <a:t>58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827"/>
                          </a:solidFill>
                          <a:latin typeface="Segoe UI"/>
                        </a:rPr>
                        <a:t>0.68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827"/>
                          </a:solidFill>
                          <a:latin typeface="Segoe UI"/>
                        </a:rPr>
                        <a:t>0.27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827"/>
                          </a:solidFill>
                          <a:latin typeface="Segoe UI"/>
                        </a:rPr>
                        <a:t>113.1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827"/>
                          </a:solidFill>
                          <a:latin typeface="Segoe UI"/>
                        </a:rPr>
                        <a:t>без оптимизатора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827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827"/>
                          </a:solidFill>
                          <a:latin typeface="Segoe UI"/>
                        </a:rPr>
                        <a:t>57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827"/>
                          </a:solidFill>
                          <a:latin typeface="Segoe UI"/>
                        </a:rPr>
                        <a:t>0.95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827"/>
                          </a:solidFill>
                          <a:latin typeface="Segoe UI"/>
                        </a:rPr>
                        <a:t>0.01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827"/>
                          </a:solidFill>
                          <a:latin typeface="Segoe UI"/>
                        </a:rPr>
                        <a:t>20.0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827"/>
                          </a:solidFill>
                          <a:latin typeface="Segoe UI"/>
                        </a:rPr>
                        <a:t>одноагентная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827"/>
                          </a:solidFill>
                          <a:latin typeface="Segoe UI"/>
                        </a:rPr>
                        <a:t>141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827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827"/>
                          </a:solidFill>
                          <a:latin typeface="Segoe UI"/>
                        </a:rPr>
                        <a:t>0.74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827"/>
                          </a:solidFill>
                          <a:latin typeface="Segoe UI"/>
                        </a:rPr>
                        <a:t>0.26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827"/>
                          </a:solidFill>
                          <a:latin typeface="Segoe UI"/>
                        </a:rPr>
                        <a:t>846.0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406640" y="1280160"/>
          <a:ext cx="4206240" cy="3108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657600"/>
            <a:ext cx="667512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Segoe UI"/>
              </a:rPr>
              <a:t>•  Одноагентная двигает уставки в 12 раз больше и пропускает не меньше (0.74 против 0.65)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Segoe UI"/>
              </a:rPr>
              <a:t>•  Без оптимизатора система почти не действует: пропусков 0.95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Segoe UI"/>
              </a:rPr>
              <a:t>•  Без агента надёжности — больше ложных тревог и хода уставок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Segoe UI"/>
              </a:rPr>
              <a:t>docs/HARD_CHECKS.md §7 · reports/architectures.json · scripts/compare_architectures.py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Segoe UI"/>
              </a:rPr>
              <a:t>Карточка оператора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МАС «Нефтекод» · числа из reports/, собрано 22.09.2026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11094415" cy="4018787"/>
          </a:xfrm>
          <a:prstGeom prst="roundRect">
            <a:avLst>
              <a:gd name="adj" fmla="val 2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728655" cy="4389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Consolas"/>
              </a:rPr>
              <a:t>[2026-03-05 00:00] Риск нарушения спецификации по сере: 54% (прогноз 10.16 мг/кг при пределе 10.0)</a:t>
            </a:r>
          </a:p>
          <a:p>
            <a:pPr algn="l"/>
            <a:r>
              <a:rPr sz="1250" b="0">
                <a:solidFill>
                  <a:srgbClr val="111827"/>
                </a:solidFill>
                <a:latin typeface="Consolas"/>
              </a:rPr>
              <a:t>  Действие: T5: +0.12 → 379.82, T11: +0.13 → 373.62, F26: -6.63 → 225.68, P13: +0.01 → 3.92</a:t>
            </a:r>
          </a:p>
          <a:p>
            <a:pPr algn="l"/>
            <a:r>
              <a:rPr sz="1250" b="0">
                <a:solidFill>
                  <a:srgbClr val="111827"/>
                </a:solidFill>
                <a:latin typeface="Consolas"/>
              </a:rPr>
              <a:t>  Эффект: сера 9.53 мг/кг (-0.63 к бездействию), Т95 346.1 °C (+0.05), выпуск -2.85 %,</a:t>
            </a:r>
          </a:p>
          <a:p>
            <a:pPr algn="l"/>
            <a:r>
              <a:rPr sz="1250" b="0">
                <a:solidFill>
                  <a:srgbClr val="111827"/>
                </a:solidFill>
                <a:latin typeface="Consolas"/>
              </a:rPr>
              <a:t>          энергия -0.13 %, тяжесть режима 0.67, выпуск смеси 237.2 т/ч</a:t>
            </a:r>
          </a:p>
          <a:p>
            <a:pPr algn="l"/>
            <a:r>
              <a:rPr sz="1250" b="0">
                <a:solidFill>
                  <a:srgbClr val="111827"/>
                </a:solidFill>
                <a:latin typeface="Consolas"/>
              </a:rPr>
              <a:t>  Проверено: сера ≤ 10.0 мг/кг (жёсткое, прогноз); Т95 ≤ 360.0 °C (жёсткое); уставки</a:t>
            </a:r>
          </a:p>
          <a:p>
            <a:pPr algn="l"/>
            <a:r>
              <a:rPr sz="1250" b="0">
                <a:solidFill>
                  <a:srgbClr val="111827"/>
                </a:solidFill>
                <a:latin typeface="Consolas"/>
              </a:rPr>
              <a:t>          внутри модельного диапазона (допущение, p05–p95 истории); шаг за цикл ограничен;</a:t>
            </a:r>
          </a:p>
          <a:p>
            <a:pPr algn="l"/>
            <a:r>
              <a:rPr sz="1250" b="0">
                <a:solidFill>
                  <a:srgbClr val="111827"/>
                </a:solidFill>
                <a:latin typeface="Consolas"/>
              </a:rPr>
              <a:t>          смесь — ДТ летнее товарное: ЦЧ ≥ 51.0, плотность 820–845; доли дают 100.0 %</a:t>
            </a:r>
          </a:p>
          <a:p>
            <a:pPr algn="l"/>
            <a:r>
              <a:rPr sz="1250" b="0">
                <a:solidFill>
                  <a:srgbClr val="111827"/>
                </a:solidFill>
                <a:latin typeface="Consolas"/>
              </a:rPr>
              <a:t>  Уверенность: 0.56</a:t>
            </a:r>
          </a:p>
          <a:p>
            <a:pPr algn="l"/>
            <a:r>
              <a:rPr sz="1250" b="0">
                <a:solidFill>
                  <a:srgbClr val="111827"/>
                </a:solidFill>
                <a:latin typeface="Consolas"/>
              </a:rPr>
              <a:t>  Почему: Из 73 допустимых вариантов (16 на фронте Парето) выбран mix_098 … запас по</a:t>
            </a:r>
          </a:p>
          <a:p>
            <a:pPr algn="l"/>
            <a:r>
              <a:rPr sz="1250" b="0">
                <a:solidFill>
                  <a:srgbClr val="111827"/>
                </a:solidFill>
                <a:latin typeface="Consolas"/>
              </a:rPr>
              <a:t>          неопределённости не гарантирован … нужен контрольный лабораторный анализ.</a:t>
            </a:r>
          </a:p>
          <a:p>
            <a:pPr algn="l"/>
            <a:r>
              <a:rPr sz="1250" b="0">
                <a:solidFill>
                  <a:srgbClr val="111827"/>
                </a:solidFill>
                <a:latin typeface="Consolas"/>
              </a:rPr>
              <a:t>          Агент надёжности ограничил T11, T5, T6 … приращение от уставок посчитано по</a:t>
            </a:r>
          </a:p>
          <a:p>
            <a:pPr algn="l"/>
            <a:r>
              <a:rPr sz="1250" b="0">
                <a:solidFill>
                  <a:srgbClr val="111827"/>
                </a:solidFill>
                <a:latin typeface="Consolas"/>
              </a:rPr>
              <a:t>          кинетике (порядок 1.5): это внутри 0.3–1 мг/кг на градус, названных технологами.</a:t>
            </a:r>
          </a:p>
          <a:p>
            <a:pPr algn="l"/>
            <a:r>
              <a:rPr sz="1250" b="0">
                <a:solidFill>
                  <a:srgbClr val="111827"/>
                </a:solidFill>
                <a:latin typeface="Consolas"/>
              </a:rPr>
              <a:t>  Что дальше: следующий анализ примерно через 16.5 ч, ждём 7.4–12.9 мг/кг — так попадали</a:t>
            </a:r>
          </a:p>
          <a:p>
            <a:pPr algn="l"/>
            <a:r>
              <a:rPr sz="1250" b="0">
                <a:solidFill>
                  <a:srgbClr val="111827"/>
                </a:solidFill>
                <a:latin typeface="Consolas"/>
              </a:rPr>
              <a:t>          8 раз из 10; до него будет сделано около 3910 т продукта; эффект правки проявится</a:t>
            </a:r>
          </a:p>
          <a:p>
            <a:pPr algn="l"/>
            <a:r>
              <a:rPr sz="1250" b="0">
                <a:solidFill>
                  <a:srgbClr val="111827"/>
                </a:solidFill>
                <a:latin typeface="Consolas"/>
              </a:rPr>
              <a:t>          за ~4.6 ч; ВНИМАНИЕ: режим уже идёт вверх на 2.93 °C за последние 4.6 ч —</a:t>
            </a:r>
          </a:p>
          <a:p>
            <a:pPr algn="l"/>
            <a:r>
              <a:rPr sz="1250" b="0">
                <a:solidFill>
                  <a:srgbClr val="111827"/>
                </a:solidFill>
                <a:latin typeface="Consolas"/>
              </a:rPr>
              <a:t>          не складывайте воздействия.</a:t>
            </a:r>
          </a:p>
          <a:p>
            <a:pPr algn="l"/>
            <a:r>
              <a:rPr sz="1250" b="0">
                <a:solidFill>
                  <a:srgbClr val="111827"/>
                </a:solidFill>
                <a:latin typeface="Consolas"/>
              </a:rPr>
              <a:t>  Смешение (допустима, сумма долей 100.0 %): ГО ДТ 100.0 %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Segoe UI"/>
              </a:rPr>
              <a:t>python scripts/run_cycle.py --ts "2026-03-05 00:00" · docs/CARD.md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Segoe UI"/>
              </a:rPr>
              <a:t>Отказ — это решение, и он стоит там, где надо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МАС «Нефтекод» · числа из reports/, собрано 22.09.2026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91672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2011680"/>
                <a:gridCol w="2377440"/>
                <a:gridCol w="2862072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Исход на тесте</a:t>
                      </a:r>
                    </a:p>
                  </a:txBody>
                  <a:tcPr marL="73152" marR="73152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Доля моментов</a:t>
                      </a:r>
                    </a:p>
                  </a:txBody>
                  <a:tcPr marL="73152" marR="73152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Превышений за 24 ч</a:t>
                      </a:r>
                    </a:p>
                  </a:txBody>
                  <a:tcPr marL="73152" marR="73152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Ошибка оперативного значения, мг/кг</a:t>
                      </a:r>
                    </a:p>
                  </a:txBody>
                  <a:tcPr marL="73152" marR="73152" marT="27432" marB="27432" anchor="ctr">
                    <a:solidFill>
                      <a:srgbClr val="1F2A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11827"/>
                          </a:solidFill>
                          <a:latin typeface="Segoe UI"/>
                        </a:rPr>
                        <a:t>решение (действие или держим)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11827"/>
                          </a:solidFill>
                          <a:latin typeface="Segoe UI"/>
                        </a:rPr>
                        <a:t>72.2 %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11827"/>
                          </a:solidFill>
                          <a:latin typeface="Segoe UI"/>
                        </a:rPr>
                        <a:t>19.5 %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11827"/>
                          </a:solidFill>
                          <a:latin typeface="Segoe UI"/>
                        </a:rPr>
                        <a:t>1.75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11827"/>
                          </a:solidFill>
                          <a:latin typeface="Segoe UI"/>
                        </a:rPr>
                        <a:t>отказ: установка стоит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11827"/>
                          </a:solidFill>
                          <a:latin typeface="Segoe UI"/>
                        </a:rPr>
                        <a:t>9.2 %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1182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11827"/>
                          </a:solidFill>
                          <a:latin typeface="Segoe UI"/>
                        </a:rPr>
                        <a:t>15.70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11827"/>
                          </a:solidFill>
                          <a:latin typeface="Segoe UI"/>
                        </a:rPr>
                        <a:t>отказ: данные недостоверны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11827"/>
                          </a:solidFill>
                          <a:latin typeface="Segoe UI"/>
                        </a:rPr>
                        <a:t>4.0 %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11827"/>
                          </a:solidFill>
                          <a:latin typeface="Segoe UI"/>
                        </a:rPr>
                        <a:t>24.2 %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11827"/>
                          </a:solidFill>
                          <a:latin typeface="Segoe UI"/>
                        </a:rPr>
                        <a:t>15.56</a:t>
                      </a:r>
                    </a:p>
                  </a:txBody>
                  <a:tcPr marL="73152" marR="73152" marT="27432" marB="27432" anchor="ctr"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11827"/>
                          </a:solidFill>
                          <a:latin typeface="Segoe UI"/>
                        </a:rPr>
                        <a:t>отказ: нет допустимых вариантов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11827"/>
                          </a:solidFill>
                          <a:latin typeface="Segoe UI"/>
                        </a:rPr>
                        <a:t>14.6 %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11827"/>
                          </a:solidFill>
                          <a:latin typeface="Segoe UI"/>
                        </a:rPr>
                        <a:t>7.2 %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11827"/>
                          </a:solidFill>
                          <a:latin typeface="Segoe UI"/>
                        </a:rPr>
                        <a:t>2.31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749039"/>
            <a:ext cx="11094415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Segoe UI"/>
              </a:rPr>
              <a:t>•  В отказах по недостоверным данным прибор расходится с лабораторией в 8.9 раза сильнее, чем в моментах с решением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Segoe UI"/>
              </a:rPr>
              <a:t>•  Превышений в них 24.2 % против 19.5 % в моментах с решением: отказ не прячет трудные моменты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Segoe UI"/>
              </a:rPr>
              <a:t>•  «Нет допустимых вариантов» — 14.6 % моментов теста, в основном конец цикла катализатора: высокая тяжесть вычёркивает все варианты. Найдено 21.09, кандидат проверяется по правилу до счёта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Segoe UI"/>
              </a:rPr>
              <a:t>docs/CARD.md → отказы · reports/refusal_quality.json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Segoe UI"/>
              </a:rPr>
              <a:t>Решения по правилам, записанным до счёта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МАС «Нефтекод» · числа из reports/, собрано 22.09.2026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364327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2E7D4F"/>
                </a:solidFill>
                <a:latin typeface="Segoe UI"/>
              </a:rPr>
              <a:t>Включено (10)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5364327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Segoe UI"/>
              </a:rPr>
              <a:t>•  Оперативный анализатор — Q21 вместо файлового ПАК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Segoe UI"/>
              </a:rPr>
              <a:t>•  Отклик серы на уставки — кинетика порядка 1.5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Segoe UI"/>
              </a:rPr>
              <a:t>•  Запас по сере держится и при слабом отклике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Segoe UI"/>
              </a:rPr>
              <a:t>•  Детектор «полки» Q21 с допуском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Segoe UI"/>
              </a:rPr>
              <a:t>•  Износ катализатора в тяжести — возраст от замены по журналу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Segoe UI"/>
              </a:rPr>
              <a:t>•  «Режим уже идёт — не складывайте воздействия»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Segoe UI"/>
              </a:rPr>
              <a:t>•  Разбор причины прогноза по группам каналов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Segoe UI"/>
              </a:rPr>
              <a:t>•  Тонны продукта до следующего анализа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Segoe UI"/>
              </a:rPr>
              <a:t>•  Самоконтроль по приходящим анализам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Segoe UI"/>
              </a:rPr>
              <a:t>•  Расхождение двух анализаторов — строкой в карточке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8727" y="1280160"/>
            <a:ext cx="5364327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B03A2E"/>
                </a:solidFill>
                <a:latin typeface="Segoe UI"/>
              </a:rPr>
              <a:t>Проверено и отклонено (10)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1783080"/>
            <a:ext cx="5364327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Segoe UI"/>
              </a:rPr>
              <a:t>•  Отказ при расхождении анализаторов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Segoe UI"/>
              </a:rPr>
              <a:t>•  Предупреждение по режиму АВТ за 2 часа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Segoe UI"/>
              </a:rPr>
              <a:t>•  Раннее предупреждение нейросетью за 2 часа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Segoe UI"/>
              </a:rPr>
              <a:t>•  Ранжирование по цене ошибки вместо весов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Segoe UI"/>
              </a:rPr>
              <a:t>•  Рост перепада Р-202 в тяжести режима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Segoe UI"/>
              </a:rPr>
              <a:t>•  Возврат к базовому режиму после вмешательства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Segoe UI"/>
              </a:rPr>
              <a:t>•  План из нескольких шагов в карточке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Segoe UI"/>
              </a:rPr>
              <a:t>•  Q21 как отдельный источник риска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Segoe UI"/>
              </a:rPr>
              <a:t>•  Т95 комбинацией оценок вместо прошлого анализа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11827"/>
                </a:solidFill>
                <a:latin typeface="Segoe UI"/>
              </a:rPr>
              <a:t>•  Т95 по формуле ВАК или модели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Segoe UI"/>
              </a:rPr>
              <a:t>docs/PLAN.md — журнал решений · правило каждой проверки — в докстринге её скрипта в scripts/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Segoe UI"/>
              </a:rPr>
              <a:t>Ограничения — сказанные вслух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МАС «Нефтекод» · числа из reports/, собрано 22.09.2026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>
                <a:solidFill>
                  <a:srgbClr val="111827"/>
                </a:solidFill>
                <a:latin typeface="Segoe UI"/>
              </a:rPr>
              <a:t>•  За сутки вперёд система не предупреждает: она реагирует на уже идущее превышение; прогноз на 2 часа у бустинга — ROC-AUC 0.37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11827"/>
                </a:solidFill>
                <a:latin typeface="Segoe UI"/>
              </a:rPr>
              <a:t>•  Отклик серы на режим взят из практики технолога (0.3–1.0 мг/кг на градус) и кинетики, а не измерен на истории — там его гасят регуляторы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11827"/>
                </a:solidFill>
                <a:latin typeface="Segoe UI"/>
              </a:rPr>
              <a:t>•  Рабочие диапазоны уставок — квантили истории: паспортных ограничений в пакете нет, эксперт назвал их конфиденциальными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11827"/>
                </a:solidFill>
                <a:latin typeface="Segoe UI"/>
              </a:rPr>
              <a:t>•  Т95 — ограничение «не ухудшать», а не гарантия: MAE оценок около 5 °C при запасе до предела 3–5 °C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11827"/>
                </a:solidFill>
                <a:latin typeface="Segoe UI"/>
              </a:rPr>
              <a:t>•  Управляющие воздействия — только гидроочистки; связь АВТ с гидроочисткой измерена и оказалась слабой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11827"/>
                </a:solidFill>
                <a:latin typeface="Segoe UI"/>
              </a:rPr>
              <a:t>•  Смешение — модель на явных допущениях: данных по компонентам не выдано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Segoe UI"/>
              </a:rPr>
              <a:t>Как проверить за 15 минут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097280" cy="54864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МАС «Нефтекод» · числа из reports/, собрано 22.09.2026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6675120" cy="502920"/>
          </a:xfrm>
          <a:prstGeom prst="roundRect">
            <a:avLst>
              <a:gd name="adj" fmla="val 1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44752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onsolas"/>
              </a:rPr>
              <a:t>python scripts/prepare_data.py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1444752"/>
            <a:ext cx="4206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Segoe UI"/>
              </a:rPr>
              <a:t>распаковка и кэш, один раз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11680"/>
            <a:ext cx="6675120" cy="502920"/>
          </a:xfrm>
          <a:prstGeom prst="roundRect">
            <a:avLst>
              <a:gd name="adj" fmla="val 1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84832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onsolas"/>
              </a:rPr>
              <a:t>python scripts/run_cycle.py --ts "2026-03-05 00:00"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084832"/>
            <a:ext cx="4206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Segoe UI"/>
              </a:rPr>
              <a:t>одна карточка целиком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51760"/>
            <a:ext cx="6675120" cy="502920"/>
          </a:xfrm>
          <a:prstGeom prst="roundRect">
            <a:avLst>
              <a:gd name="adj" fmla="val 1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724912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onsolas"/>
              </a:rPr>
              <a:t>streamlit run app/dashboard.py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724912"/>
            <a:ext cx="4206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Segoe UI"/>
              </a:rPr>
              <a:t>дашборд: сцены защиты, путь решения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91840"/>
            <a:ext cx="6675120" cy="502920"/>
          </a:xfrm>
          <a:prstGeom prst="roundRect">
            <a:avLst>
              <a:gd name="adj" fmla="val 1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364992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onsolas"/>
              </a:rPr>
              <a:t>python scripts/run_scenario.py --list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3364992"/>
            <a:ext cx="4206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Segoe UI"/>
              </a:rPr>
              <a:t>сценарии с возмущениями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31920"/>
            <a:ext cx="6675120" cy="502920"/>
          </a:xfrm>
          <a:prstGeom prst="roundRect">
            <a:avLst>
              <a:gd name="adj" fmla="val 1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005072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onsolas"/>
              </a:rPr>
              <a:t>pytest -q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4005072"/>
            <a:ext cx="4206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Segoe UI"/>
              </a:rPr>
              <a:t>тесты, включая сверку документов с отчётами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572000"/>
            <a:ext cx="6675120" cy="502920"/>
          </a:xfrm>
          <a:prstGeom prst="roundRect">
            <a:avLst>
              <a:gd name="adj" fmla="val 1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645152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onsolas"/>
              </a:rPr>
              <a:t>bash scripts/reproduce_all.sh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4645152"/>
            <a:ext cx="4206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Segoe UI"/>
              </a:rPr>
              <a:t>все отчёты заново, с продолжением с места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394960"/>
            <a:ext cx="11094415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Segoe UI"/>
              </a:rPr>
              <a:t>Куда смотреть: README → «За пять минут» · docs/CARD.md · docs/HARD_CHECKS.md · docs/DATA_PERIODS.md · docs/PLAN.md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